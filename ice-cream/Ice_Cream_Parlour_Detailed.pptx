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Ice cream parlour: retail outlet specializing in frozen desserts</a:t>
            </a:r>
          </a:p>
          <a:p>
            <a:pPr/>
            <a:r>
              <a:t>Combines food service, retail, and experience design</a:t>
            </a:r>
          </a:p>
          <a:p>
            <a:pPr/>
            <a:r>
              <a:t>High impulse purchase category with emotional appeal</a:t>
            </a:r>
          </a:p>
          <a:p>
            <a:pPr/>
            <a:r>
              <a:t>Key success factors: taste, location, branding,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 of global frozen dessert industry</a:t>
            </a:r>
          </a:p>
          <a:p>
            <a:pPr/>
            <a:r>
              <a:t>Includes artisanal, premium, and mass-market segments</a:t>
            </a:r>
          </a:p>
          <a:p>
            <a:pPr/>
            <a:r>
              <a:t>Growth driven by urbanization and disposable income</a:t>
            </a:r>
          </a:p>
          <a:p>
            <a:pPr/>
            <a:r>
              <a:t>Strong competition and product differentiation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Ice Cream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Origins in ancient China and Persia</a:t>
            </a:r>
          </a:p>
          <a:p>
            <a:pPr/>
            <a:r>
              <a:t>Evolution through Europe in 17th century</a:t>
            </a:r>
          </a:p>
          <a:p>
            <a:pPr/>
            <a:r>
              <a:t>Industrialization enabled mass production</a:t>
            </a:r>
          </a:p>
          <a:p>
            <a:pPr/>
            <a:r>
              <a:t>Modern innovations include soft serve and gelato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Parlours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Started as soda fountains in 1800s</a:t>
            </a:r>
          </a:p>
          <a:p>
            <a:pPr/>
            <a:r>
              <a:t>Shift to dedicated dessert outlets</a:t>
            </a:r>
          </a:p>
          <a:p>
            <a:pPr/>
            <a:r>
              <a:t>Rise of franchise brands</a:t>
            </a:r>
          </a:p>
          <a:p>
            <a:pPr/>
            <a:r>
              <a:t>Now experiential and Instagram-friendly spaces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Ice cream, gelato, sorbet, frozen yogurt</a:t>
            </a:r>
          </a:p>
          <a:p>
            <a:pPr/>
            <a:r>
              <a:t>Kulfi (India-specific product)</a:t>
            </a:r>
          </a:p>
          <a:p>
            <a:pPr/>
            <a:r>
              <a:t>Soft serve vs hard scoop</a:t>
            </a:r>
          </a:p>
          <a:p>
            <a:pPr/>
            <a:r>
              <a:t>Vegan and lactose-free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Milk solids, fat, sugar form base</a:t>
            </a:r>
          </a:p>
          <a:p>
            <a:pPr/>
            <a:r>
              <a:t>Emulsifiers improve texture</a:t>
            </a:r>
          </a:p>
          <a:p>
            <a:pPr/>
            <a:r>
              <a:t>Stabilizers prevent ice crystal formation</a:t>
            </a:r>
          </a:p>
          <a:p>
            <a:pPr/>
            <a:r>
              <a:t>Flavorings: natural and artificial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Mix formulation and blending</a:t>
            </a:r>
          </a:p>
          <a:p>
            <a:pPr/>
            <a:r>
              <a:t>Pasteurization for safety</a:t>
            </a:r>
          </a:p>
          <a:p>
            <a:pPr/>
            <a:r>
              <a:t>Homogenization for texture</a:t>
            </a:r>
          </a:p>
          <a:p>
            <a:pPr/>
            <a:r>
              <a:t>Freezing and aeration</a:t>
            </a:r>
          </a:p>
          <a:p>
            <a:pPr/>
            <a:r>
              <a:t>Hardening and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freezers and continuous freezers</a:t>
            </a:r>
          </a:p>
          <a:p>
            <a:pPr/>
            <a:r>
              <a:t>Display cabinets with temperature control</a:t>
            </a:r>
          </a:p>
          <a:p>
            <a:pPr/>
            <a:r>
              <a:t>Refrigeration and cold storage</a:t>
            </a:r>
          </a:p>
          <a:p>
            <a:pPr/>
            <a:r>
              <a:t>POS systems and billing machines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Procurement of dairy and ingredients</a:t>
            </a:r>
          </a:p>
          <a:p>
            <a:pPr/>
            <a:r>
              <a:t>Cold chain logistics critical</a:t>
            </a:r>
          </a:p>
          <a:p>
            <a:pPr/>
            <a:r>
              <a:t>Inventory turnover management</a:t>
            </a:r>
          </a:p>
          <a:p>
            <a:pPr/>
            <a:r>
              <a:t>Supplier quality consistency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footfall areas like malls and markets</a:t>
            </a:r>
          </a:p>
          <a:p>
            <a:pPr/>
            <a:r>
              <a:t>Near schools, parks, and tourist spots</a:t>
            </a:r>
          </a:p>
          <a:p>
            <a:pPr/>
            <a:r>
              <a:t>Visibility and accessibility important</a:t>
            </a:r>
          </a:p>
          <a:p>
            <a:pPr/>
            <a:r>
              <a:t>Rental cost vs revenue tradeoff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Children and families primary segment</a:t>
            </a:r>
          </a:p>
          <a:p>
            <a:pPr/>
            <a:r>
              <a:t>Young adults for premium offerings</a:t>
            </a:r>
          </a:p>
          <a:p>
            <a:pPr/>
            <a:r>
              <a:t>Health-conscious segment for low-calorie options</a:t>
            </a:r>
          </a:p>
          <a:p>
            <a:pPr/>
            <a:r>
              <a:t>Tourists seeking local flavors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 between variety and operational simplicity</a:t>
            </a:r>
          </a:p>
          <a:p>
            <a:pPr/>
            <a:r>
              <a:t>High-margin items placement</a:t>
            </a:r>
          </a:p>
          <a:p>
            <a:pPr/>
            <a:r>
              <a:t>Customization increases perceived value</a:t>
            </a:r>
          </a:p>
          <a:p>
            <a:pPr/>
            <a:r>
              <a:t>Combo offers improve sales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Cost-plus pricing model</a:t>
            </a:r>
          </a:p>
          <a:p>
            <a:pPr/>
            <a:r>
              <a:t>Premium pricing for artisanal products</a:t>
            </a:r>
          </a:p>
          <a:p>
            <a:pPr/>
            <a:r>
              <a:t>Psychological pricing (₹99, ₹199)</a:t>
            </a:r>
          </a:p>
          <a:p>
            <a:pPr/>
            <a:r>
              <a:t>Seasonal discounts and bundles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In-store direct sales</a:t>
            </a:r>
          </a:p>
          <a:p>
            <a:pPr/>
            <a:r>
              <a:t>Online delivery platforms</a:t>
            </a:r>
          </a:p>
          <a:p>
            <a:pPr/>
            <a:r>
              <a:t>Event catering and bulk orders</a:t>
            </a:r>
          </a:p>
          <a:p>
            <a:pPr/>
            <a:r>
              <a:t>Merchandising and packaged products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Fixed: rent, salaries, utilities</a:t>
            </a:r>
          </a:p>
          <a:p>
            <a:pPr/>
            <a:r>
              <a:t>Variable: ingredients, packaging</a:t>
            </a:r>
          </a:p>
          <a:p>
            <a:pPr/>
            <a:r>
              <a:t>Marketing and advertising expenses</a:t>
            </a:r>
          </a:p>
          <a:p>
            <a:pPr/>
            <a:r>
              <a:t>Maintenance and depreciation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Margins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Typically 50–70% gross margins</a:t>
            </a:r>
          </a:p>
          <a:p>
            <a:pPr/>
            <a:r>
              <a:t>Dependent on ingredient cost and pricing</a:t>
            </a:r>
          </a:p>
          <a:p>
            <a:pPr/>
            <a:r>
              <a:t>High margins in premium segments</a:t>
            </a:r>
          </a:p>
          <a:p>
            <a:pPr/>
            <a:r>
              <a:t>Seasonality affects net profit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Interior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Theme-based decor attracts customers</a:t>
            </a:r>
          </a:p>
          <a:p>
            <a:pPr/>
            <a:r>
              <a:t>Lighting enhances product visibility</a:t>
            </a:r>
          </a:p>
          <a:p>
            <a:pPr/>
            <a:r>
              <a:t>Seating comfort improves dwell time</a:t>
            </a:r>
          </a:p>
          <a:p>
            <a:pPr/>
            <a:r>
              <a:t>Color psychology impacts mood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service and polite staff</a:t>
            </a:r>
          </a:p>
          <a:p>
            <a:pPr/>
            <a:r>
              <a:t>Sampling options increase conversion</a:t>
            </a:r>
          </a:p>
          <a:p>
            <a:pPr/>
            <a:r>
              <a:t>Clean and hygienic environment</a:t>
            </a:r>
          </a:p>
          <a:p>
            <a:pPr/>
            <a:r>
              <a:t>Music and ambience influence retention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Hygiene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food safety compliance</a:t>
            </a:r>
          </a:p>
          <a:p>
            <a:pPr/>
            <a:r>
              <a:t>Regular equipment sanitization</a:t>
            </a:r>
          </a:p>
          <a:p>
            <a:pPr/>
            <a:r>
              <a:t>Staff hygiene training</a:t>
            </a:r>
          </a:p>
          <a:p>
            <a:pPr/>
            <a:r>
              <a:t>Temperature control 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FSSAI registration in India</a:t>
            </a:r>
          </a:p>
          <a:p>
            <a:pPr/>
            <a:r>
              <a:t>Local municipal approvals</a:t>
            </a:r>
          </a:p>
          <a:p>
            <a:pPr/>
            <a:r>
              <a:t>Fire and safety compliance</a:t>
            </a:r>
          </a:p>
          <a:p>
            <a:pPr/>
            <a:r>
              <a:t>GST registration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 campaigns (Instagram focus)</a:t>
            </a:r>
          </a:p>
          <a:p>
            <a:pPr/>
            <a:r>
              <a:t>Influencer collaborations</a:t>
            </a:r>
          </a:p>
          <a:p>
            <a:pPr/>
            <a:r>
              <a:t>Festive and seasonal promotions</a:t>
            </a:r>
          </a:p>
          <a:p>
            <a:pPr/>
            <a:r>
              <a:t>Loyalty programs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brand identity and logo</a:t>
            </a:r>
          </a:p>
          <a:p>
            <a:pPr/>
            <a:r>
              <a:t>Consistent theme across outlets</a:t>
            </a:r>
          </a:p>
          <a:p>
            <a:pPr/>
            <a:r>
              <a:t>Storytelling and emotional connection</a:t>
            </a:r>
          </a:p>
          <a:p>
            <a:pPr/>
            <a:r>
              <a:t>Packaging design importance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ordering systems</a:t>
            </a:r>
          </a:p>
          <a:p>
            <a:pPr/>
            <a:r>
              <a:t>Mobile apps and QR menus</a:t>
            </a:r>
          </a:p>
          <a:p>
            <a:pPr/>
            <a:r>
              <a:t>Data analytics for customer insights</a:t>
            </a:r>
          </a:p>
          <a:p>
            <a:pPr/>
            <a:r>
              <a:t>CRM for retention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parlours and street vendors</a:t>
            </a:r>
          </a:p>
          <a:p>
            <a:pPr/>
            <a:r>
              <a:t>Large franchise brands</a:t>
            </a:r>
          </a:p>
          <a:p>
            <a:pPr/>
            <a:r>
              <a:t>Differentiation via quality and experience</a:t>
            </a:r>
          </a:p>
          <a:p>
            <a:pPr/>
            <a:r>
              <a:t>Price competition in mass market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Franchise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risk with established brand</a:t>
            </a:r>
          </a:p>
          <a:p>
            <a:pPr/>
            <a:r>
              <a:t>Requires franchise fee</a:t>
            </a:r>
          </a:p>
          <a:p>
            <a:pPr/>
            <a:r>
              <a:t>Operational guidelines fixed</a:t>
            </a:r>
          </a:p>
          <a:p>
            <a:pPr/>
            <a:r>
              <a:t>Less flexibility in innovation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control over menu and branding</a:t>
            </a:r>
          </a:p>
          <a:p>
            <a:pPr/>
            <a:r>
              <a:t>Higher risk and initial effort</a:t>
            </a:r>
          </a:p>
          <a:p>
            <a:pPr/>
            <a:r>
              <a:t>Flexibility in pricing and innovation</a:t>
            </a:r>
          </a:p>
          <a:p>
            <a:pPr/>
            <a:r>
              <a:t>Local market adaptability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demand in summer months</a:t>
            </a:r>
          </a:p>
          <a:p>
            <a:pPr/>
            <a:r>
              <a:t>Winter requires promotions</a:t>
            </a:r>
          </a:p>
          <a:p>
            <a:pPr/>
            <a:r>
              <a:t>Festivals boost sales</a:t>
            </a:r>
          </a:p>
          <a:p>
            <a:pPr/>
            <a:r>
              <a:t>Weather impacts daily footfall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Fusion desserts like brownie sundaes</a:t>
            </a:r>
          </a:p>
          <a:p>
            <a:pPr/>
            <a:r>
              <a:t>Nitrogen ice cream</a:t>
            </a:r>
          </a:p>
          <a:p>
            <a:pPr/>
            <a:r>
              <a:t>Vegan and keto options</a:t>
            </a:r>
          </a:p>
          <a:p>
            <a:pPr/>
            <a:r>
              <a:t>Custom flavor creation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Eco-friendly packaging materials</a:t>
            </a:r>
          </a:p>
          <a:p>
            <a:pPr/>
            <a:r>
              <a:t>Waste reduction strategies</a:t>
            </a:r>
          </a:p>
          <a:p>
            <a:pPr/>
            <a:r>
              <a:t>Energy-efficient equipment</a:t>
            </a:r>
          </a:p>
          <a:p>
            <a:pPr/>
            <a:r>
              <a:t>Ethical sourcing of ingredients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 integration with inventory</a:t>
            </a:r>
          </a:p>
          <a:p>
            <a:pPr/>
            <a:r>
              <a:t>AI-based demand prediction</a:t>
            </a:r>
          </a:p>
          <a:p>
            <a:pPr/>
            <a:r>
              <a:t>Digital payments and UPI</a:t>
            </a:r>
          </a:p>
          <a:p>
            <a:pPr/>
            <a:r>
              <a:t>Customer feedback systems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 taste testing</a:t>
            </a:r>
          </a:p>
          <a:p>
            <a:pPr/>
            <a:r>
              <a:t>Supplier audits</a:t>
            </a:r>
          </a:p>
          <a:p>
            <a:pPr/>
            <a:r>
              <a:t>Batch consistency checks</a:t>
            </a:r>
          </a:p>
          <a:p>
            <a:pPr/>
            <a:r>
              <a:t>Customer feedback monitoring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Opening multiple outlets</a:t>
            </a:r>
          </a:p>
          <a:p>
            <a:pPr/>
            <a:r>
              <a:t>Franchise expansion</a:t>
            </a:r>
          </a:p>
          <a:p>
            <a:pPr/>
            <a:r>
              <a:t>Entering new cities</a:t>
            </a:r>
          </a:p>
          <a:p>
            <a:pPr/>
            <a:r>
              <a:t>Product line diversification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disruptions</a:t>
            </a:r>
          </a:p>
          <a:p>
            <a:pPr/>
            <a:r>
              <a:t>Perishable inventory losses</a:t>
            </a:r>
          </a:p>
          <a:p>
            <a:pPr/>
            <a:r>
              <a:t>Changing consumer preferences</a:t>
            </a:r>
          </a:p>
          <a:p>
            <a:pPr/>
            <a:r>
              <a:t>Economic downturn impact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Membership programs</a:t>
            </a:r>
          </a:p>
          <a:p>
            <a:pPr/>
            <a:r>
              <a:t>Discount coupons</a:t>
            </a:r>
          </a:p>
          <a:p>
            <a:pPr/>
            <a:r>
              <a:t>Personalized offers</a:t>
            </a:r>
          </a:p>
          <a:p>
            <a:pPr/>
            <a:r>
              <a:t>Engagement via social media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service skills</a:t>
            </a:r>
          </a:p>
          <a:p>
            <a:pPr/>
            <a:r>
              <a:t>Product knowledge</a:t>
            </a:r>
          </a:p>
          <a:p>
            <a:pPr/>
            <a:r>
              <a:t>Hygiene practices</a:t>
            </a:r>
          </a:p>
          <a:p>
            <a:pPr/>
            <a:r>
              <a:t>Upselling techniques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demand in Tier 2 cities</a:t>
            </a:r>
          </a:p>
          <a:p>
            <a:pPr/>
            <a:r>
              <a:t>Preference for natural ingredients</a:t>
            </a:r>
          </a:p>
          <a:p>
            <a:pPr/>
            <a:r>
              <a:t>Rise of premium brands</a:t>
            </a:r>
          </a:p>
          <a:p>
            <a:pPr/>
            <a:r>
              <a:t>Influence of social media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Artisanal and handcrafted ice creams</a:t>
            </a:r>
          </a:p>
          <a:p>
            <a:pPr/>
            <a:r>
              <a:t>Health-conscious alternatives</a:t>
            </a:r>
          </a:p>
          <a:p>
            <a:pPr/>
            <a:r>
              <a:t>Unique global flavors</a:t>
            </a:r>
          </a:p>
          <a:p>
            <a:pPr/>
            <a:r>
              <a:t>Experience-driven outlets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successful parlour</a:t>
            </a:r>
          </a:p>
          <a:p>
            <a:pPr/>
            <a:r>
              <a:t>Focus on location and branding</a:t>
            </a:r>
          </a:p>
          <a:p>
            <a:pPr/>
            <a:r>
              <a:t>Menu innovation strategies</a:t>
            </a:r>
          </a:p>
          <a:p>
            <a:pPr/>
            <a:r>
              <a:t>Customer engagement methods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Advertising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ads on social media</a:t>
            </a:r>
          </a:p>
          <a:p>
            <a:pPr/>
            <a:r>
              <a:t>Local newspaper and radio</a:t>
            </a:r>
          </a:p>
          <a:p>
            <a:pPr/>
            <a:r>
              <a:t>Outdoor hoardings</a:t>
            </a:r>
          </a:p>
          <a:p>
            <a:pPr/>
            <a:r>
              <a:t>Collaborations with events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Tie-ups with food delivery apps</a:t>
            </a:r>
          </a:p>
          <a:p>
            <a:pPr/>
            <a:r>
              <a:t>Event planners and caterers</a:t>
            </a:r>
          </a:p>
          <a:p>
            <a:pPr/>
            <a:r>
              <a:t>Schools and institutions</a:t>
            </a:r>
          </a:p>
          <a:p>
            <a:pPr/>
            <a:r>
              <a:t>Corporate partnerships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Diversification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Ice cream cakes</a:t>
            </a:r>
          </a:p>
          <a:p>
            <a:pPr/>
            <a:r>
              <a:t>Milkshakes and smoothies</a:t>
            </a:r>
          </a:p>
          <a:p>
            <a:pPr/>
            <a:r>
              <a:t>Waffles and desserts</a:t>
            </a:r>
          </a:p>
          <a:p>
            <a:pPr/>
            <a:r>
              <a:t>Retail packaged ice cream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growth potential in India</a:t>
            </a:r>
          </a:p>
          <a:p>
            <a:pPr/>
            <a:r>
              <a:t>Innovation in flavors and formats</a:t>
            </a:r>
          </a:p>
          <a:p>
            <a:pPr/>
            <a:r>
              <a:t>Expansion into rural markets</a:t>
            </a:r>
          </a:p>
          <a:p>
            <a:pPr/>
            <a:r>
              <a:t>Technology-driven personalization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to medium investment startup</a:t>
            </a:r>
          </a:p>
          <a:p>
            <a:pPr/>
            <a:r>
              <a:t>Scalable business model</a:t>
            </a:r>
          </a:p>
          <a:p>
            <a:pPr/>
            <a:r>
              <a:t>High brand-building potential</a:t>
            </a:r>
          </a:p>
          <a:p>
            <a:pPr/>
            <a:r>
              <a:t>Creative business opportunities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Tax filing and GST returns</a:t>
            </a:r>
          </a:p>
          <a:p>
            <a:pPr/>
            <a:r>
              <a:t>Labor law compliance</a:t>
            </a:r>
          </a:p>
          <a:p>
            <a:pPr/>
            <a:r>
              <a:t>Food safety audits</a:t>
            </a:r>
          </a:p>
          <a:p>
            <a:pPr/>
            <a:r>
              <a:t>Business registration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Break-even analysis</a:t>
            </a:r>
          </a:p>
          <a:p>
            <a:pPr/>
            <a:r>
              <a:t>ROI estimation</a:t>
            </a:r>
          </a:p>
          <a:p>
            <a:pPr/>
            <a:r>
              <a:t>Budget allocation</a:t>
            </a:r>
          </a:p>
          <a:p>
            <a:pPr/>
            <a:r>
              <a:t>Cash flow management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Impulse buying behavior</a:t>
            </a:r>
          </a:p>
          <a:p>
            <a:pPr/>
            <a:r>
              <a:t>Emotional connection with desserts</a:t>
            </a:r>
          </a:p>
          <a:p>
            <a:pPr/>
            <a:r>
              <a:t>Visual appeal influences choice</a:t>
            </a:r>
          </a:p>
          <a:p>
            <a:pPr/>
            <a:r>
              <a:t>Brand trust increases loyalty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Ice cream parlours are profitable and scalable ventures</a:t>
            </a:r>
          </a:p>
          <a:p>
            <a:pPr/>
            <a:r>
              <a:t>Success depends on quality, location, and innovation</a:t>
            </a:r>
          </a:p>
          <a:p>
            <a:pPr/>
            <a:r>
              <a:t>Customer experience is a key differentiator</a:t>
            </a:r>
          </a:p>
          <a:p>
            <a:pPr/>
            <a:r>
              <a:t>Future growth driven by trends and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